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5"/>
    </p:embeddedFont>
    <p:embeddedFont>
      <p:font typeface="Calibri (MS)" charset="1" panose="020F0502020204030204"/>
      <p:regular r:id="rId16"/>
    </p:embeddedFont>
    <p:embeddedFont>
      <p:font typeface="DejaVu Sans Bold" charset="1" panose="020B0803030604020204"/>
      <p:regular r:id="rId17"/>
    </p:embeddedFont>
    <p:embeddedFont>
      <p:font typeface="DejaVu Sans Light" charset="1" panose="020B0603030804020204"/>
      <p:regular r:id="rId18"/>
    </p:embeddedFont>
    <p:embeddedFont>
      <p:font typeface="Arial" charset="1" panose="020B0604020202020204"/>
      <p:regular r:id="rId19"/>
    </p:embeddedFont>
    <p:embeddedFont>
      <p:font typeface="Helvetica World" charset="1" panose="020B0500040000020004"/>
      <p:regular r:id="rId20"/>
    </p:embeddedFont>
    <p:embeddedFont>
      <p:font typeface="Helvetica World Bold" charset="1" panose="020B0800040000020004"/>
      <p:regular r:id="rId21"/>
    </p:embeddedFont>
    <p:embeddedFont>
      <p:font typeface="Times New Roman" charset="1" panose="020206030504050203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3141345"/>
            <a:ext cx="8703945" cy="551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</a:p>
          <a:p>
            <a:pPr algn="just" marL="398145" indent="-199072" lvl="1">
              <a:lnSpc>
                <a:spcPts val="52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SIH26037</a:t>
            </a:r>
          </a:p>
          <a:p>
            <a:pPr algn="l" marL="474979" indent="-237490" lvl="1">
              <a:lnSpc>
                <a:spcPts val="52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Adaptive Path Planning and Collision Avoidance for Autonomous Vehicles on Unstructured Indian Roads</a:t>
            </a:r>
          </a:p>
          <a:p>
            <a:pPr algn="just" marL="398145" indent="-199072" lvl="1">
              <a:lnSpc>
                <a:spcPts val="52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Vehicles</a:t>
            </a:r>
          </a:p>
          <a:p>
            <a:pPr algn="just" marL="398145" indent="-199072" lvl="1">
              <a:lnSpc>
                <a:spcPts val="52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398145" indent="-199072" lvl="1">
              <a:lnSpc>
                <a:spcPts val="52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398145" indent="-199072" lvl="1">
              <a:lnSpc>
                <a:spcPts val="52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- Zapdos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80235" y="-872468"/>
            <a:ext cx="8527530" cy="1901168"/>
            <a:chOff x="0" y="0"/>
            <a:chExt cx="1137004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70040" cy="2534890"/>
            </a:xfrm>
            <a:custGeom>
              <a:avLst/>
              <a:gdLst/>
              <a:ahLst/>
              <a:cxnLst/>
              <a:rect r="r" b="b" t="t" l="l"/>
              <a:pathLst>
                <a:path h="2534890" w="11370040">
                  <a:moveTo>
                    <a:pt x="0" y="0"/>
                  </a:moveTo>
                  <a:lnTo>
                    <a:pt x="11370040" y="0"/>
                  </a:lnTo>
                  <a:lnTo>
                    <a:pt x="1137004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9" r="-93012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37004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-239306" y="5924033"/>
            <a:ext cx="7315200" cy="3291840"/>
          </a:xfrm>
          <a:custGeom>
            <a:avLst/>
            <a:gdLst/>
            <a:ahLst/>
            <a:cxnLst/>
            <a:rect r="r" b="b" t="t" l="l"/>
            <a:pathLst>
              <a:path h="3291840" w="7315200">
                <a:moveTo>
                  <a:pt x="0" y="0"/>
                </a:moveTo>
                <a:lnTo>
                  <a:pt x="7315200" y="0"/>
                </a:lnTo>
                <a:lnTo>
                  <a:pt x="7315200" y="3291840"/>
                </a:lnTo>
                <a:lnTo>
                  <a:pt x="0" y="3291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768426" y="7782780"/>
            <a:ext cx="5126260" cy="1433093"/>
            <a:chOff x="0" y="0"/>
            <a:chExt cx="1141703" cy="3191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1703" cy="319174"/>
            </a:xfrm>
            <a:custGeom>
              <a:avLst/>
              <a:gdLst/>
              <a:ahLst/>
              <a:cxnLst/>
              <a:rect r="r" b="b" t="t" l="l"/>
              <a:pathLst>
                <a:path h="319174" w="1141703">
                  <a:moveTo>
                    <a:pt x="938503" y="0"/>
                  </a:moveTo>
                  <a:lnTo>
                    <a:pt x="203200" y="0"/>
                  </a:lnTo>
                  <a:lnTo>
                    <a:pt x="0" y="159587"/>
                  </a:lnTo>
                  <a:lnTo>
                    <a:pt x="203200" y="319174"/>
                  </a:lnTo>
                  <a:lnTo>
                    <a:pt x="938503" y="319174"/>
                  </a:lnTo>
                  <a:lnTo>
                    <a:pt x="1141703" y="159587"/>
                  </a:lnTo>
                  <a:lnTo>
                    <a:pt x="938503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52400" y="-47625"/>
              <a:ext cx="836903" cy="366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  <a:r>
                <a:rPr lang="en-US" b="true" sz="1722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Risk-Score per obstacle based on predictablity and danger.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0" y="5392922"/>
            <a:ext cx="6325199" cy="39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5"/>
              </a:lnSpc>
            </a:pPr>
          </a:p>
          <a:p>
            <a:pPr algn="l" marL="520976" indent="-260488" lvl="1">
              <a:lnSpc>
                <a:spcPts val="2895"/>
              </a:lnSpc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Abondoning the Lane marking approach, allows for expanded labels to be used for the dynamic environment present on indian road.</a:t>
            </a:r>
          </a:p>
          <a:p>
            <a:pPr algn="ctr">
              <a:lnSpc>
                <a:spcPts val="2895"/>
              </a:lnSpc>
            </a:pPr>
          </a:p>
          <a:p>
            <a:pPr algn="l" marL="520976" indent="-260488" lvl="1">
              <a:lnSpc>
                <a:spcPts val="2895"/>
              </a:lnSpc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Using Specific situation and then cross-training, to optimize for general situations, as indian streets change rapidly. 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3218535" y="7782780"/>
            <a:ext cx="4901108" cy="1433093"/>
            <a:chOff x="0" y="0"/>
            <a:chExt cx="1290827" cy="377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90827" cy="377440"/>
            </a:xfrm>
            <a:custGeom>
              <a:avLst/>
              <a:gdLst/>
              <a:ahLst/>
              <a:cxnLst/>
              <a:rect r="r" b="b" t="t" l="l"/>
              <a:pathLst>
                <a:path h="377440" w="1290827">
                  <a:moveTo>
                    <a:pt x="1087627" y="0"/>
                  </a:moveTo>
                  <a:lnTo>
                    <a:pt x="203200" y="0"/>
                  </a:lnTo>
                  <a:lnTo>
                    <a:pt x="0" y="188720"/>
                  </a:lnTo>
                  <a:lnTo>
                    <a:pt x="203200" y="377440"/>
                  </a:lnTo>
                  <a:lnTo>
                    <a:pt x="1087627" y="377440"/>
                  </a:lnTo>
                  <a:lnTo>
                    <a:pt x="1290827" y="188720"/>
                  </a:lnTo>
                  <a:lnTo>
                    <a:pt x="1087627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52400" y="-47625"/>
              <a:ext cx="986027" cy="42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  <a:r>
                <a:rPr lang="en-US" b="true" sz="1722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Classification of Road and considering it when deciding suitable path.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72174" y="567403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6664414" y="5674037"/>
            <a:ext cx="19050" cy="36540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2174" y="9196823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72174" y="5674037"/>
            <a:ext cx="19050" cy="35418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998818" y="2718942"/>
            <a:ext cx="7374782" cy="4180580"/>
          </a:xfrm>
          <a:custGeom>
            <a:avLst/>
            <a:gdLst/>
            <a:ahLst/>
            <a:cxnLst/>
            <a:rect r="r" b="b" t="t" l="l"/>
            <a:pathLst>
              <a:path h="4180580" w="7374782">
                <a:moveTo>
                  <a:pt x="0" y="0"/>
                </a:moveTo>
                <a:lnTo>
                  <a:pt x="7374782" y="0"/>
                </a:lnTo>
                <a:lnTo>
                  <a:pt x="7374782" y="4180580"/>
                </a:lnTo>
                <a:lnTo>
                  <a:pt x="0" y="4180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79905" y="1721228"/>
            <a:ext cx="1530021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680" indent="-272340" lvl="1">
              <a:lnSpc>
                <a:spcPts val="3611"/>
              </a:lnSpc>
              <a:buFont typeface="Arial"/>
              <a:buChar char="•"/>
            </a:pPr>
            <a:r>
              <a:rPr lang="en-US" b="true" sz="3009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algn="l">
              <a:lnSpc>
                <a:spcPts val="3611"/>
              </a:lnSpc>
            </a:pPr>
            <a:r>
              <a:rPr lang="en-US" sz="30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ML based system which rely on object classification then collision-prediction based on    sensor data to map optimal path. </a:t>
            </a:r>
          </a:p>
          <a:p>
            <a:pPr algn="l">
              <a:lnSpc>
                <a:spcPts val="3491"/>
              </a:lnSpc>
            </a:pPr>
            <a:r>
              <a:rPr lang="en-US" sz="290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﻿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9905" y="5106646"/>
            <a:ext cx="3915749" cy="41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  <a:spcBef>
                <a:spcPct val="0"/>
              </a:spcBef>
            </a:pPr>
            <a:r>
              <a:rPr lang="en-US" b="true" sz="2322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Adressing the Problem: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25865" y="7147172"/>
            <a:ext cx="3111644" cy="42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  <a:spcBef>
                <a:spcPct val="0"/>
              </a:spcBef>
            </a:pPr>
            <a:r>
              <a:rPr lang="en-US" b="true" sz="2379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Solution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5359" y="161262"/>
            <a:ext cx="1571040" cy="102427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42439" y="1289928"/>
            <a:ext cx="413195" cy="413195"/>
          </a:xfrm>
          <a:custGeom>
            <a:avLst/>
            <a:gdLst/>
            <a:ahLst/>
            <a:cxnLst/>
            <a:rect r="r" b="b" t="t" l="l"/>
            <a:pathLst>
              <a:path h="413195" w="413195">
                <a:moveTo>
                  <a:pt x="0" y="0"/>
                </a:moveTo>
                <a:lnTo>
                  <a:pt x="413194" y="0"/>
                </a:lnTo>
                <a:lnTo>
                  <a:pt x="413194" y="413195"/>
                </a:lnTo>
                <a:lnTo>
                  <a:pt x="0" y="413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9752" y="1796222"/>
            <a:ext cx="17370740" cy="7561519"/>
          </a:xfrm>
          <a:custGeom>
            <a:avLst/>
            <a:gdLst/>
            <a:ahLst/>
            <a:cxnLst/>
            <a:rect r="r" b="b" t="t" l="l"/>
            <a:pathLst>
              <a:path h="7561519" w="17370740">
                <a:moveTo>
                  <a:pt x="0" y="0"/>
                </a:moveTo>
                <a:lnTo>
                  <a:pt x="17370739" y="0"/>
                </a:lnTo>
                <a:lnTo>
                  <a:pt x="17370739" y="7561519"/>
                </a:lnTo>
                <a:lnTo>
                  <a:pt x="0" y="75615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67599" y="870715"/>
            <a:ext cx="43754" cy="27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215">
                <a:solidFill>
                  <a:srgbClr val="5A62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5059" y="1345990"/>
            <a:ext cx="127954" cy="44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b="true" sz="177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77404" y="4613727"/>
            <a:ext cx="58336" cy="19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"/>
              </a:lnSpc>
            </a:pPr>
            <a:r>
              <a:rPr lang="en-US" b="true" sz="81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2992" y="1389617"/>
            <a:ext cx="2769985" cy="25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b="true" sz="1340">
                <a:solidFill>
                  <a:srgbClr val="11141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SENSE · UNDERSTAND · ASSESS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55922" y="4626910"/>
            <a:ext cx="1773295" cy="33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b="true" sz="1339">
                <a:solidFill>
                  <a:srgbClr val="11141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DECIDE · PLAN · 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732" y="1957703"/>
            <a:ext cx="2783278" cy="70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b="true" sz="179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SENSORS</a:t>
            </a:r>
          </a:p>
          <a:p>
            <a:pPr algn="ctr">
              <a:lnSpc>
                <a:spcPts val="1615"/>
              </a:lnSpc>
            </a:pP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LiDARToolbox · RadarToolbox Automated Driving Toolbox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46719" y="2298053"/>
            <a:ext cx="33707" cy="22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53610" y="6175373"/>
            <a:ext cx="2117200" cy="70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b="true" sz="179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VEHICLE STATE</a:t>
            </a:r>
          </a:p>
          <a:p>
            <a:pPr algn="ctr">
              <a:lnSpc>
                <a:spcPts val="1615"/>
              </a:lnSpc>
            </a:pP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Vehicle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Dynamics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Blockset Bicycle Model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78303" y="6515723"/>
            <a:ext cx="33707" cy="22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32170" y="1910078"/>
            <a:ext cx="2202317" cy="32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b="true" sz="179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SENSOR FUSION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08760" y="2298053"/>
            <a:ext cx="33707" cy="22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53495" y="6127748"/>
            <a:ext cx="1602957" cy="61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b="true" sz="178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CONTROLLER</a:t>
            </a:r>
          </a:p>
          <a:p>
            <a:pPr algn="ctr">
              <a:lnSpc>
                <a:spcPts val="2031"/>
              </a:lnSpc>
            </a:pPr>
            <a:r>
              <a:rPr lang="en-US" b="true" sz="1451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Simulink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68919" y="1948421"/>
            <a:ext cx="2750163" cy="70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b="true" sz="179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PERCEPTION</a:t>
            </a:r>
          </a:p>
          <a:p>
            <a:pPr algn="ctr">
              <a:lnSpc>
                <a:spcPts val="1615"/>
              </a:lnSpc>
            </a:pP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Automated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Driving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Toolbox Deep Learning Toolbox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03497" y="2298053"/>
            <a:ext cx="33707" cy="22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17696" y="6118223"/>
            <a:ext cx="1814447" cy="33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3"/>
              </a:lnSpc>
            </a:pPr>
            <a:r>
              <a:rPr lang="en-US" b="true" sz="178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PATH PLANNER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00140" y="6515723"/>
            <a:ext cx="33707" cy="22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56931" y="1910944"/>
            <a:ext cx="2414177" cy="32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b="true" sz="179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MOTION PREDICTION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56123" y="2298053"/>
            <a:ext cx="33707" cy="22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936">
                <a:solidFill>
                  <a:srgbClr val="DCEA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79588" y="6142895"/>
            <a:ext cx="2439972" cy="60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b="true" sz="179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BEHAVIOR PLANNER</a:t>
            </a:r>
          </a:p>
          <a:p>
            <a:pPr algn="ctr">
              <a:lnSpc>
                <a:spcPts val="1959"/>
              </a:lnSpc>
            </a:pPr>
            <a:r>
              <a:rPr lang="en-US" b="true" sz="1399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Stateflow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23976" y="1941748"/>
            <a:ext cx="2271618" cy="60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b="true" sz="179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RISK ASSESSMENT</a:t>
            </a:r>
          </a:p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MATLAB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53366" y="2298053"/>
            <a:ext cx="2937156" cy="26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Sensor</a:t>
            </a:r>
            <a:r>
              <a:rPr lang="en-US" b="true" sz="13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399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Fusion</a:t>
            </a:r>
            <a:r>
              <a:rPr lang="en-US" b="true" sz="13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399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&amp;</a:t>
            </a:r>
            <a:r>
              <a:rPr lang="en-US" b="true" sz="13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399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TrackingToolbox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58549" y="6515723"/>
            <a:ext cx="2532742" cy="26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MATLAB · NavigationToolbox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04297" y="2279918"/>
            <a:ext cx="1903489" cy="26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MATLAB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ML</a:t>
            </a: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400">
                <a:solidFill>
                  <a:srgbClr val="DCEAF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36316" y="3248307"/>
            <a:ext cx="1440189" cy="23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6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Camera / LiDAR / Radar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487753" y="7199277"/>
            <a:ext cx="1048914" cy="4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Position / Velocity and orientation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925567" y="3179727"/>
            <a:ext cx="1669323" cy="23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6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Unified view of surroundings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13110" y="7130697"/>
            <a:ext cx="1056355" cy="4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Steering / Throttle and braking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25688" y="3044469"/>
            <a:ext cx="1876263" cy="63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Object detection &amp; classification Cars / Bikes / Pedestrians / Cattle / Autos / Carts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382049" y="7130697"/>
            <a:ext cx="974882" cy="4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 a safe driving trajectory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000117" y="3073050"/>
            <a:ext cx="1115625" cy="4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Future trajectories of detected objects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56579" y="7130697"/>
            <a:ext cx="1085990" cy="4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Stop / Yield / Pass Overtake / Replan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387420" y="3073050"/>
            <a:ext cx="1144729" cy="4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Collision probability and uncertainty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670482" y="4920244"/>
            <a:ext cx="5048894" cy="40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11141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does the autonomous Driving System Work?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676049" y="8572849"/>
            <a:ext cx="3335254" cy="57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3"/>
              </a:lnSpc>
            </a:pPr>
            <a:r>
              <a:rPr lang="en-US" b="true" sz="1659">
                <a:solidFill>
                  <a:srgbClr val="263D4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SIMULATION ENVIRONMENT</a:t>
            </a:r>
          </a:p>
          <a:p>
            <a:pPr algn="just">
              <a:lnSpc>
                <a:spcPts val="2071"/>
              </a:lnSpc>
            </a:pPr>
            <a:r>
              <a:rPr lang="en-US" b="true" sz="1479">
                <a:solidFill>
                  <a:srgbClr val="263D4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RoadRunner · RoadRunner Scenario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333652" y="8713506"/>
            <a:ext cx="9480913" cy="30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b="true" sz="1689">
                <a:solidFill>
                  <a:srgbClr val="5A626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Simulated 3D roads, traffic, actors and test scenarios for the complete closed-loop stack</a:t>
            </a:r>
          </a:p>
        </p:txBody>
      </p:sp>
      <p:sp>
        <p:nvSpPr>
          <p:cNvPr name="TextBox 52" id="52"/>
          <p:cNvSpPr txBox="true"/>
          <p:nvPr/>
        </p:nvSpPr>
        <p:spPr>
          <a:xfrm rot="-5400000">
            <a:off x="-218182" y="5557682"/>
            <a:ext cx="1777906" cy="39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b="true" sz="1583">
                <a:solidFill>
                  <a:srgbClr val="244F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FEEDBACK LOOP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3470806" y="4507172"/>
            <a:ext cx="413195" cy="413195"/>
          </a:xfrm>
          <a:custGeom>
            <a:avLst/>
            <a:gdLst/>
            <a:ahLst/>
            <a:cxnLst/>
            <a:rect r="r" b="b" t="t" l="l"/>
            <a:pathLst>
              <a:path h="413195" w="413195">
                <a:moveTo>
                  <a:pt x="0" y="0"/>
                </a:moveTo>
                <a:lnTo>
                  <a:pt x="413195" y="0"/>
                </a:lnTo>
                <a:lnTo>
                  <a:pt x="413195" y="413194"/>
                </a:lnTo>
                <a:lnTo>
                  <a:pt x="0" y="4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3607786" y="4540972"/>
            <a:ext cx="127954" cy="3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b="true" sz="177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</a:t>
              </a: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174449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08880" y="1643062"/>
            <a:ext cx="3445432" cy="1807178"/>
          </a:xfrm>
          <a:custGeom>
            <a:avLst/>
            <a:gdLst/>
            <a:ahLst/>
            <a:cxnLst/>
            <a:rect r="r" b="b" t="t" l="l"/>
            <a:pathLst>
              <a:path h="1807178" w="3445432">
                <a:moveTo>
                  <a:pt x="0" y="0"/>
                </a:moveTo>
                <a:lnTo>
                  <a:pt x="3445433" y="0"/>
                </a:lnTo>
                <a:lnTo>
                  <a:pt x="3445433" y="1807179"/>
                </a:lnTo>
                <a:lnTo>
                  <a:pt x="0" y="1807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41" t="-11886" r="0" b="-796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8880" y="4095047"/>
            <a:ext cx="3445432" cy="1945656"/>
          </a:xfrm>
          <a:custGeom>
            <a:avLst/>
            <a:gdLst/>
            <a:ahLst/>
            <a:cxnLst/>
            <a:rect r="r" b="b" t="t" l="l"/>
            <a:pathLst>
              <a:path h="1945656" w="3445432">
                <a:moveTo>
                  <a:pt x="0" y="0"/>
                </a:moveTo>
                <a:lnTo>
                  <a:pt x="3445433" y="0"/>
                </a:lnTo>
                <a:lnTo>
                  <a:pt x="3445433" y="1945655"/>
                </a:lnTo>
                <a:lnTo>
                  <a:pt x="0" y="19456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85" t="-8058" r="-3909" b="-423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8880" y="6888472"/>
            <a:ext cx="3445432" cy="1995814"/>
          </a:xfrm>
          <a:custGeom>
            <a:avLst/>
            <a:gdLst/>
            <a:ahLst/>
            <a:cxnLst/>
            <a:rect r="r" b="b" t="t" l="l"/>
            <a:pathLst>
              <a:path h="1995814" w="3445432">
                <a:moveTo>
                  <a:pt x="0" y="0"/>
                </a:moveTo>
                <a:lnTo>
                  <a:pt x="3445433" y="0"/>
                </a:lnTo>
                <a:lnTo>
                  <a:pt x="3445433" y="1995814"/>
                </a:lnTo>
                <a:lnTo>
                  <a:pt x="0" y="1995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24" t="0" r="-2885" b="-673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136867" y="1643062"/>
            <a:ext cx="7990742" cy="1266238"/>
          </a:xfrm>
          <a:custGeom>
            <a:avLst/>
            <a:gdLst/>
            <a:ahLst/>
            <a:cxnLst/>
            <a:rect r="r" b="b" t="t" l="l"/>
            <a:pathLst>
              <a:path h="1266238" w="7990742">
                <a:moveTo>
                  <a:pt x="0" y="0"/>
                </a:moveTo>
                <a:lnTo>
                  <a:pt x="7990742" y="0"/>
                </a:lnTo>
                <a:lnTo>
                  <a:pt x="7990742" y="1266238"/>
                </a:lnTo>
                <a:lnTo>
                  <a:pt x="0" y="12662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97" t="-17651" r="-7130" b="-3530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36867" y="3017182"/>
            <a:ext cx="7990742" cy="1535269"/>
          </a:xfrm>
          <a:custGeom>
            <a:avLst/>
            <a:gdLst/>
            <a:ahLst/>
            <a:cxnLst/>
            <a:rect r="r" b="b" t="t" l="l"/>
            <a:pathLst>
              <a:path h="1535269" w="7990742">
                <a:moveTo>
                  <a:pt x="0" y="0"/>
                </a:moveTo>
                <a:lnTo>
                  <a:pt x="7990742" y="0"/>
                </a:lnTo>
                <a:lnTo>
                  <a:pt x="7990742" y="1535269"/>
                </a:lnTo>
                <a:lnTo>
                  <a:pt x="0" y="1535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330" t="-14793" r="-7597" b="-13345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136867" y="4730878"/>
            <a:ext cx="7990742" cy="1163104"/>
          </a:xfrm>
          <a:custGeom>
            <a:avLst/>
            <a:gdLst/>
            <a:ahLst/>
            <a:cxnLst/>
            <a:rect r="r" b="b" t="t" l="l"/>
            <a:pathLst>
              <a:path h="1163104" w="7990742">
                <a:moveTo>
                  <a:pt x="0" y="0"/>
                </a:moveTo>
                <a:lnTo>
                  <a:pt x="7990742" y="0"/>
                </a:lnTo>
                <a:lnTo>
                  <a:pt x="7990742" y="1163105"/>
                </a:lnTo>
                <a:lnTo>
                  <a:pt x="0" y="1163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47" t="-11306" r="-5265" b="-17302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36867" y="6040702"/>
            <a:ext cx="7990742" cy="1480920"/>
          </a:xfrm>
          <a:custGeom>
            <a:avLst/>
            <a:gdLst/>
            <a:ahLst/>
            <a:cxnLst/>
            <a:rect r="r" b="b" t="t" l="l"/>
            <a:pathLst>
              <a:path h="1480920" w="7990742">
                <a:moveTo>
                  <a:pt x="0" y="0"/>
                </a:moveTo>
                <a:lnTo>
                  <a:pt x="7990742" y="0"/>
                </a:lnTo>
                <a:lnTo>
                  <a:pt x="7990742" y="1480921"/>
                </a:lnTo>
                <a:lnTo>
                  <a:pt x="0" y="1480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836" t="-7991" r="0" b="-10912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136867" y="7695420"/>
            <a:ext cx="7990742" cy="1188866"/>
          </a:xfrm>
          <a:custGeom>
            <a:avLst/>
            <a:gdLst/>
            <a:ahLst/>
            <a:cxnLst/>
            <a:rect r="r" b="b" t="t" l="l"/>
            <a:pathLst>
              <a:path h="1188866" w="7990742">
                <a:moveTo>
                  <a:pt x="0" y="0"/>
                </a:moveTo>
                <a:lnTo>
                  <a:pt x="7990742" y="0"/>
                </a:lnTo>
                <a:lnTo>
                  <a:pt x="7990742" y="1188866"/>
                </a:lnTo>
                <a:lnTo>
                  <a:pt x="0" y="11888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393" t="-15272" r="-8888" b="-11818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5391875" y="2527602"/>
            <a:ext cx="24074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5391875" y="5162550"/>
            <a:ext cx="24074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5391875" y="7905429"/>
            <a:ext cx="24074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50858" y="2354358"/>
            <a:ext cx="3928004" cy="1338594"/>
          </a:xfrm>
          <a:custGeom>
            <a:avLst/>
            <a:gdLst/>
            <a:ahLst/>
            <a:cxnLst/>
            <a:rect r="r" b="b" t="t" l="l"/>
            <a:pathLst>
              <a:path h="1338594" w="3928004">
                <a:moveTo>
                  <a:pt x="0" y="0"/>
                </a:moveTo>
                <a:lnTo>
                  <a:pt x="3928004" y="0"/>
                </a:lnTo>
                <a:lnTo>
                  <a:pt x="3928004" y="1338594"/>
                </a:lnTo>
                <a:lnTo>
                  <a:pt x="0" y="133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0858" y="4404248"/>
            <a:ext cx="4164700" cy="1380563"/>
          </a:xfrm>
          <a:custGeom>
            <a:avLst/>
            <a:gdLst/>
            <a:ahLst/>
            <a:cxnLst/>
            <a:rect r="r" b="b" t="t" l="l"/>
            <a:pathLst>
              <a:path h="1380563" w="4164700">
                <a:moveTo>
                  <a:pt x="0" y="0"/>
                </a:moveTo>
                <a:lnTo>
                  <a:pt x="4164699" y="0"/>
                </a:lnTo>
                <a:lnTo>
                  <a:pt x="4164699" y="1380563"/>
                </a:lnTo>
                <a:lnTo>
                  <a:pt x="0" y="1380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50858" y="6506732"/>
            <a:ext cx="4164700" cy="1399802"/>
          </a:xfrm>
          <a:custGeom>
            <a:avLst/>
            <a:gdLst/>
            <a:ahLst/>
            <a:cxnLst/>
            <a:rect r="r" b="b" t="t" l="l"/>
            <a:pathLst>
              <a:path h="1399802" w="4164700">
                <a:moveTo>
                  <a:pt x="0" y="0"/>
                </a:moveTo>
                <a:lnTo>
                  <a:pt x="4164699" y="0"/>
                </a:lnTo>
                <a:lnTo>
                  <a:pt x="4164699" y="1399801"/>
                </a:lnTo>
                <a:lnTo>
                  <a:pt x="0" y="13998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339396" y="2354358"/>
            <a:ext cx="3804604" cy="1250970"/>
          </a:xfrm>
          <a:custGeom>
            <a:avLst/>
            <a:gdLst/>
            <a:ahLst/>
            <a:cxnLst/>
            <a:rect r="r" b="b" t="t" l="l"/>
            <a:pathLst>
              <a:path h="1250970" w="3804604">
                <a:moveTo>
                  <a:pt x="0" y="0"/>
                </a:moveTo>
                <a:lnTo>
                  <a:pt x="3804604" y="0"/>
                </a:lnTo>
                <a:lnTo>
                  <a:pt x="3804604" y="1250971"/>
                </a:lnTo>
                <a:lnTo>
                  <a:pt x="0" y="12509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52465" y="4414770"/>
            <a:ext cx="4022835" cy="1359518"/>
          </a:xfrm>
          <a:custGeom>
            <a:avLst/>
            <a:gdLst/>
            <a:ahLst/>
            <a:cxnLst/>
            <a:rect r="r" b="b" t="t" l="l"/>
            <a:pathLst>
              <a:path h="1359518" w="4022835">
                <a:moveTo>
                  <a:pt x="0" y="0"/>
                </a:moveTo>
                <a:lnTo>
                  <a:pt x="4022835" y="0"/>
                </a:lnTo>
                <a:lnTo>
                  <a:pt x="4022835" y="1359518"/>
                </a:lnTo>
                <a:lnTo>
                  <a:pt x="0" y="1359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352465" y="6488663"/>
            <a:ext cx="4022835" cy="1262066"/>
          </a:xfrm>
          <a:custGeom>
            <a:avLst/>
            <a:gdLst/>
            <a:ahLst/>
            <a:cxnLst/>
            <a:rect r="r" b="b" t="t" l="l"/>
            <a:pathLst>
              <a:path h="1262066" w="4022835">
                <a:moveTo>
                  <a:pt x="0" y="0"/>
                </a:moveTo>
                <a:lnTo>
                  <a:pt x="4022835" y="0"/>
                </a:lnTo>
                <a:lnTo>
                  <a:pt x="4022835" y="1262066"/>
                </a:lnTo>
                <a:lnTo>
                  <a:pt x="0" y="12620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54588" y="2454655"/>
            <a:ext cx="8068475" cy="2115137"/>
          </a:xfrm>
          <a:custGeom>
            <a:avLst/>
            <a:gdLst/>
            <a:ahLst/>
            <a:cxnLst/>
            <a:rect r="r" b="b" t="t" l="l"/>
            <a:pathLst>
              <a:path h="2115137" w="8068475">
                <a:moveTo>
                  <a:pt x="0" y="0"/>
                </a:moveTo>
                <a:lnTo>
                  <a:pt x="8068475" y="0"/>
                </a:lnTo>
                <a:lnTo>
                  <a:pt x="8068475" y="2115137"/>
                </a:lnTo>
                <a:lnTo>
                  <a:pt x="0" y="21151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54588" y="5655671"/>
            <a:ext cx="8172800" cy="2095058"/>
          </a:xfrm>
          <a:custGeom>
            <a:avLst/>
            <a:gdLst/>
            <a:ahLst/>
            <a:cxnLst/>
            <a:rect r="r" b="b" t="t" l="l"/>
            <a:pathLst>
              <a:path h="2095058" w="8172800">
                <a:moveTo>
                  <a:pt x="0" y="0"/>
                </a:moveTo>
                <a:lnTo>
                  <a:pt x="8172800" y="0"/>
                </a:lnTo>
                <a:lnTo>
                  <a:pt x="8172800" y="2095058"/>
                </a:lnTo>
                <a:lnTo>
                  <a:pt x="0" y="20950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Zapdos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95976" y="2198482"/>
            <a:ext cx="1332059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REPO :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https://github.com/prtkvrshny/NSUT-SIH-2026-26037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5976" y="3160507"/>
            <a:ext cx="588256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Video :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GitHub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DAHUtMFVCGE</dc:identifier>
  <dcterms:modified xsi:type="dcterms:W3CDTF">2011-08-01T06:04:30Z</dcterms:modified>
  <cp:revision>1</cp:revision>
  <dc:title>Problem Statement ID – SIH26037 Problem Statement Title- Adaptive Path Planning and Collision Avoidance for Autonomous Vehicles on Unstructured Indian Roads Theme- PS Category- Software/Hardware Team ID- Team Name (Registered on portal)</dc:title>
</cp:coreProperties>
</file>